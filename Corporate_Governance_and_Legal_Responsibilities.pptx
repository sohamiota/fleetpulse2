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/>
            </a:pPr>
            <a:r>
              <a:t>Corporate Governance and Legal Responsibilities of Engineers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Protecting Stakeholders Through Ethical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Governance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Corporate governance sets direction, control, and accountability for organizations.</a:t>
            </a:r>
          </a:p>
          <a:p>
            <a:pPr>
              <a:spcAft>
                <a:spcPts val="400"/>
              </a:spcAft>
            </a:pPr>
            <a:r>
              <a:t>Balances interests of shareholders, management, customers, regulators, and the public.</a:t>
            </a:r>
          </a:p>
          <a:p>
            <a:pPr>
              <a:spcAft>
                <a:spcPts val="400"/>
              </a:spcAft>
            </a:pPr>
            <a:r>
              <a:t>Engineers translate governance strategy into safe, compliant technical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Governance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Boards establish strategy, approve risk appetite, and monitor performance impacting engineering programs.</a:t>
            </a:r>
          </a:p>
          <a:p>
            <a:pPr>
              <a:spcAft>
                <a:spcPts val="400"/>
              </a:spcAft>
            </a:pPr>
            <a:r>
              <a:t>Audit, risk, and compliance committees oversee controls and reporting tied to technical work.</a:t>
            </a:r>
          </a:p>
          <a:p>
            <a:pPr>
              <a:spcAft>
                <a:spcPts val="400"/>
              </a:spcAft>
            </a:pPr>
            <a:r>
              <a:t>Defined reporting lines connect engineering leads with governance bodies for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Policies Shaping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Quality and safety policies define technical requirements, testing, and approvals.</a:t>
            </a:r>
          </a:p>
          <a:p>
            <a:pPr>
              <a:spcAft>
                <a:spcPts val="400"/>
              </a:spcAft>
            </a:pPr>
            <a:r>
              <a:t>Sustainability commitments steer design choices toward ESG-aligned outcomes.</a:t>
            </a:r>
          </a:p>
          <a:p>
            <a:pPr>
              <a:spcAft>
                <a:spcPts val="400"/>
              </a:spcAft>
            </a:pPr>
            <a:r>
              <a:t>Transparency mandates accurate data reporting and stakeholder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Legal Duties of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Duty of care requires diligence in design, testing, and deployment to protect public safety.</a:t>
            </a:r>
          </a:p>
          <a:p>
            <a:pPr>
              <a:spcAft>
                <a:spcPts val="400"/>
              </a:spcAft>
            </a:pPr>
            <a:r>
              <a:t>Compliance with applicable regulations: building codes, environmental statutes, industry standards.</a:t>
            </a:r>
          </a:p>
          <a:p>
            <a:pPr>
              <a:spcAft>
                <a:spcPts val="400"/>
              </a:spcAft>
            </a:pPr>
            <a:r>
              <a:t>Thorough documentation and traceability demonstrate compliance and mitigate 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Ethics and Professional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Adhere to codes from IEEE, NSPE, or local engineering bodies to guide conduct.</a:t>
            </a:r>
          </a:p>
          <a:p>
            <a:pPr>
              <a:spcAft>
                <a:spcPts val="400"/>
              </a:spcAft>
            </a:pPr>
            <a:r>
              <a:t>Identify conflicts of interest early; escalate issues through governance channels.</a:t>
            </a:r>
          </a:p>
          <a:p>
            <a:pPr>
              <a:spcAft>
                <a:spcPts val="400"/>
              </a:spcAft>
            </a:pPr>
            <a:r>
              <a:t>Balance innovation with societal responsibilities and long-term stakeholder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Risk Management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Embed risk assessments in design reviews, FMEA, and technical audits.</a:t>
            </a:r>
          </a:p>
          <a:p>
            <a:pPr>
              <a:spcAft>
                <a:spcPts val="400"/>
              </a:spcAft>
            </a:pPr>
            <a:r>
              <a:t>Track key risk indicators and mitigation plans within governance frameworks.</a:t>
            </a:r>
          </a:p>
          <a:p>
            <a:pPr>
              <a:spcAft>
                <a:spcPts val="400"/>
              </a:spcAft>
            </a:pPr>
            <a:r>
              <a:t>Capture lessons learned from engineering failures to strengthen future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Partnering with Legal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Support regulatory filings, certifications, and audit responses with accurate data.</a:t>
            </a:r>
          </a:p>
          <a:p>
            <a:pPr>
              <a:spcAft>
                <a:spcPts val="400"/>
              </a:spcAft>
            </a:pPr>
            <a:r>
              <a:t>Provide technical diligence during mergers, acquisitions, and vendor evaluations.</a:t>
            </a:r>
          </a:p>
          <a:p>
            <a:pPr>
              <a:spcAft>
                <a:spcPts val="400"/>
              </a:spcAft>
            </a:pPr>
            <a:r>
              <a:t>Craft precise specifications, warranties, and liability clauses within contracts.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Accountability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Maintain design records, change logs, and approvals in accessible repositories.</a:t>
            </a:r>
          </a:p>
          <a:p>
            <a:pPr>
              <a:spcAft>
                <a:spcPts val="400"/>
              </a:spcAft>
            </a:pPr>
            <a:r>
              <a:t>Use RACI matrices to clarify roles in technical decisions and sign-offs.</a:t>
            </a:r>
          </a:p>
          <a:p>
            <a:pPr>
              <a:spcAft>
                <a:spcPts val="400"/>
              </a:spcAft>
            </a:pPr>
            <a:r>
              <a:t>Document rationale in decision registers to stand up under investigation or litigation.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Future Governance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AI governance, data privacy, and cybersecurity regulations expand engineering duties.</a:t>
            </a:r>
          </a:p>
          <a:p>
            <a:pPr>
              <a:spcAft>
                <a:spcPts val="400"/>
              </a:spcAft>
            </a:pPr>
            <a:r>
              <a:t>ESG reporting raises expectations for lifecycle sustainability and transparency.</a:t>
            </a:r>
          </a:p>
          <a:p>
            <a:pPr>
              <a:spcAft>
                <a:spcPts val="400"/>
              </a:spcAft>
            </a:pPr>
            <a:r>
              <a:t>Global harmonization of engineering standards demands continuous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C7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Key Takeaways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t>Engineering governance blends technical diligence, legal compliance, and ethical leadership.</a:t>
            </a:r>
          </a:p>
          <a:p>
            <a:pPr>
              <a:spcAft>
                <a:spcPts val="400"/>
              </a:spcAft>
            </a:pPr>
            <a:r>
              <a:t>Immediate actions: review policies, assess compliance gaps, schedule training refreshers.</a:t>
            </a:r>
          </a:p>
          <a:p>
            <a:pPr>
              <a:spcAft>
                <a:spcPts val="400"/>
              </a:spcAft>
            </a:pPr>
            <a:r>
              <a:t>Encourage dialogue: invite questions and plan deeper dives into governance priorities.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